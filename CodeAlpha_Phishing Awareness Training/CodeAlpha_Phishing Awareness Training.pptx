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5" r:id="rId13"/>
  </p:sldIdLst>
  <p:sldSz cx="18288000" cy="10287000"/>
  <p:notesSz cx="6858000" cy="9144000"/>
  <p:embeddedFontLst>
    <p:embeddedFont>
      <p:font typeface="Helvetica World" panose="020B0604020202020204" charset="-128"/>
      <p:regular r:id="rId14"/>
    </p:embeddedFont>
    <p:embeddedFont>
      <p:font typeface="Helvetica World Bold" panose="020B0604020202020204" charset="-128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Georgia Pro Condense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37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1201400" cy="10299700"/>
            <a:chOff x="0" y="0"/>
            <a:chExt cx="963348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348" cy="885799"/>
            </a:xfrm>
            <a:custGeom>
              <a:avLst/>
              <a:gdLst/>
              <a:ahLst/>
              <a:cxnLst/>
              <a:rect l="l" t="t" r="r" b="b"/>
              <a:pathLst>
                <a:path w="963348" h="885799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28527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1868150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381000" y="9094003"/>
            <a:ext cx="8240003" cy="574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200" u="none" strike="noStrike" spc="-57" dirty="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Presented by [</a:t>
            </a:r>
            <a:r>
              <a:rPr lang="en-US" sz="3200" spc="-57" dirty="0">
                <a:solidFill>
                  <a:schemeClr val="accent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Bernard Amoako Agyemang</a:t>
            </a:r>
            <a:r>
              <a:rPr lang="en-US" sz="3200" spc="-57" dirty="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]</a:t>
            </a:r>
            <a:endParaRPr lang="en-US" sz="3200" u="none" strike="noStrike" spc="-57" dirty="0">
              <a:solidFill>
                <a:srgbClr val="F5F7FA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07219" y="3158106"/>
            <a:ext cx="10013182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/>
            <a:r>
              <a:rPr lang="en-US" sz="8800" strike="noStrike" spc="-523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Phishing: Spot and Stop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8947742" y="765609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5A8DA0E-D505-AC31-F2AC-9168A4FB6DE6}"/>
              </a:ext>
            </a:extLst>
          </p:cNvPr>
          <p:cNvSpPr txBox="1"/>
          <p:nvPr/>
        </p:nvSpPr>
        <p:spPr>
          <a:xfrm>
            <a:off x="381000" y="5163613"/>
            <a:ext cx="10439400" cy="122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940"/>
              </a:lnSpc>
            </a:pPr>
            <a:r>
              <a:rPr lang="en-US" sz="3600" u="none" strike="noStrike" spc="-57" dirty="0">
                <a:solidFill>
                  <a:schemeClr val="bg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Protecting yourself from deceptive online attacks and social engineering.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2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487304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3162A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200400" y="1922077"/>
            <a:ext cx="13249275" cy="123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00"/>
              </a:lnSpc>
            </a:pPr>
            <a:r>
              <a:rPr lang="en-US" sz="8000" spc="-240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What is Phishing?</a:t>
            </a:r>
          </a:p>
        </p:txBody>
      </p: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2F0F02-77B7-3AE2-7D55-2B8D286942FA}"/>
              </a:ext>
            </a:extLst>
          </p:cNvPr>
          <p:cNvSpPr txBox="1"/>
          <p:nvPr/>
        </p:nvSpPr>
        <p:spPr>
          <a:xfrm>
            <a:off x="3200400" y="4006109"/>
            <a:ext cx="11201400" cy="3477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-37" normalizeH="0" baseline="0" noProof="0" dirty="0">
                <a:ln>
                  <a:noFill/>
                </a:ln>
                <a:solidFill>
                  <a:srgbClr val="F5F7FA"/>
                </a:solidFill>
                <a:effectLst/>
                <a:uLnTx/>
                <a:uFillTx/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 Bold"/>
              </a:rPr>
              <a:t>Phishing is a deceptive cyberattack where malicious actors impersonate legitimate entities via email, text, or malicious websites to steal sensitive data like passwords, credit card numbers, or login credentials.</a:t>
            </a:r>
            <a:endParaRPr kumimoji="0" lang="en-US" sz="4400" b="0" i="0" u="none" strike="noStrike" kern="1200" cap="none" spc="-37" normalizeH="0" baseline="0" noProof="0" dirty="0">
              <a:ln>
                <a:noFill/>
              </a:ln>
              <a:solidFill>
                <a:srgbClr val="F5F7FA"/>
              </a:solidFill>
              <a:effectLst/>
              <a:uLnTx/>
              <a:uFillTx/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  <a:sym typeface="Helvetica World Bold"/>
            </a:endParaRPr>
          </a:p>
        </p:txBody>
      </p:sp>
    </p:spTree>
    <p:extLst>
      <p:ext uri="{BB962C8B-B14F-4D97-AF65-F5344CB8AC3E}">
        <p14:creationId xmlns:p14="http://schemas.microsoft.com/office/powerpoint/2010/main" val="97106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2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28527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t="-66" b="-6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6750" y="809625"/>
            <a:ext cx="6886575" cy="3089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Recognizing Suspicious Senders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6750" y="4838700"/>
            <a:ext cx="7486650" cy="2696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3600" u="none" strike="noStrike" spc="-37" dirty="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Phishing emails often appear legitimate but can hide </a:t>
            </a:r>
            <a:r>
              <a:rPr lang="en-US" sz="3600" b="1" u="none" strike="noStrike" spc="-37" dirty="0">
                <a:solidFill>
                  <a:srgbClr val="F5F7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malicious intent</a:t>
            </a:r>
            <a:r>
              <a:rPr lang="en-US" sz="3600" u="none" strike="noStrike" spc="-37" dirty="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Look for inconsistencies in sender addresses, unusual requests, and poor grammar as key indicators of potential fraud or deception.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A2A4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t="-66" b="-6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6750" y="809625"/>
            <a:ext cx="6886575" cy="3089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Identifying Counterfeit Websites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6750" y="5143500"/>
            <a:ext cx="7334250" cy="269682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3600" u="none" strike="noStrike" spc="-37" dirty="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Recognizing fake websites is crucial for </a:t>
            </a:r>
            <a:r>
              <a:rPr lang="en-US" sz="3600" b="1" u="none" strike="noStrike" spc="-37" dirty="0">
                <a:solidFill>
                  <a:srgbClr val="F5F7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protecting sensitive information</a:t>
            </a:r>
            <a:r>
              <a:rPr lang="en-US" sz="3600" u="none" strike="noStrike" spc="-37" dirty="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Look for inconsistencies in URLs, missing security certificates, and mismatched logos to avoid falling victim to scams.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2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3162A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58970" y="1864335"/>
            <a:ext cx="13249275" cy="1896269"/>
            <a:chOff x="0" y="-85725"/>
            <a:chExt cx="17665700" cy="2528358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Red Flags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883833"/>
              <a:ext cx="17665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 dirty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Warning Signs of a Phishing Attack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56997" y="4924039"/>
            <a:ext cx="4708056" cy="3638142"/>
            <a:chOff x="0" y="9525"/>
            <a:chExt cx="5744662" cy="394255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525"/>
              <a:ext cx="5744662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800" b="1" spc="-37" dirty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Suspicious Attachments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79500"/>
              <a:ext cx="5744662" cy="28725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400" u="none" strike="noStrike" spc="-30" dirty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Be cautious of unexpected email attachments, especially from unknown senders. They may contain malware designed to compromise your device and steal sensitive information.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74666" y="4931183"/>
            <a:ext cx="4010025" cy="3315990"/>
            <a:chOff x="0" y="9525"/>
            <a:chExt cx="5346700" cy="442132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525"/>
              <a:ext cx="5346700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800" b="1" spc="-37" dirty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Unusual Requests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79500"/>
              <a:ext cx="5346700" cy="3351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400" u="none" strike="noStrike" spc="-30" dirty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Phishing emails often create a sense of urgency or require personal information. Always verify requests for sensitive data through official communication channels before responding.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094304" y="4887119"/>
            <a:ext cx="4010025" cy="3675063"/>
            <a:chOff x="0" y="9525"/>
            <a:chExt cx="5346700" cy="490008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9525"/>
              <a:ext cx="5346700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800" b="1" spc="-37" dirty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Grammar Errors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79500"/>
              <a:ext cx="5346700" cy="38301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400" u="none" strike="noStrike" spc="-30" dirty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Many phishing attempts include poor grammar and spelling mistakes. Legitimate organizations typically maintain professional communication, so be wary of messages that lack attention to detail.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A2A4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t="-66" b="-6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6750" y="809625"/>
            <a:ext cx="6886575" cy="4098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Understanding Social Engineering Tactics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1919" y="5905500"/>
            <a:ext cx="6886575" cy="311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3200" u="none" strike="noStrike" spc="-37" dirty="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Social engineering exploits human psychology to manipulate individuals into divulging confidential information. </a:t>
            </a:r>
            <a:r>
              <a:rPr lang="en-US" sz="3200" b="1" u="none" strike="noStrike" spc="-37" dirty="0">
                <a:solidFill>
                  <a:srgbClr val="F5F7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Recognizing these tactics</a:t>
            </a:r>
            <a:r>
              <a:rPr lang="en-US" sz="3200" u="none" strike="noStrike" spc="-37" dirty="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—such as urgency, authority, and impersonation—is crucial for safeguarding personal and organizational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2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5F7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3162A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850231"/>
            <a:ext cx="13249276" cy="1725613"/>
            <a:chOff x="-1" y="-85725"/>
            <a:chExt cx="17665701" cy="2300818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Best Practices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1" y="1656293"/>
              <a:ext cx="17665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 dirty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Tips to Avoid Phishing Attacks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0225" y="4748256"/>
            <a:ext cx="4619626" cy="3519444"/>
            <a:chOff x="0" y="9525"/>
            <a:chExt cx="5744662" cy="394255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525"/>
              <a:ext cx="5744662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800" b="1" spc="-37" dirty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Verify Sender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79500"/>
              <a:ext cx="5744662" cy="28725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400" u="none" strike="noStrike" spc="-30" dirty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Always check the sender's email address carefully. Look for unusual domain names or spelling errors that may indicate a fraudulent source. Confirm with the sender directly if unsure.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91388" y="4748256"/>
            <a:ext cx="4367212" cy="3718378"/>
            <a:chOff x="0" y="9525"/>
            <a:chExt cx="5346700" cy="442132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525"/>
              <a:ext cx="5346700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800" b="1" spc="-37" dirty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Check Links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79500"/>
              <a:ext cx="5346700" cy="3351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400" u="none" strike="noStrike" spc="-30" dirty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Hover over hyperlinks to see the actual destination before clicking. Ensure the URL matches the legitimate website, and avoid entering personal information on suspicious sites.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92000" y="4748255"/>
            <a:ext cx="4367212" cy="3688513"/>
            <a:chOff x="0" y="9525"/>
            <a:chExt cx="5346700" cy="4421321"/>
          </a:xfrm>
        </p:grpSpPr>
        <p:sp>
          <p:nvSpPr>
            <p:cNvPr id="16" name="TextBox 16"/>
            <p:cNvSpPr txBox="1"/>
            <p:nvPr/>
          </p:nvSpPr>
          <p:spPr>
            <a:xfrm>
              <a:off x="0" y="9525"/>
              <a:ext cx="5346700" cy="10259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800" b="1" spc="-37" dirty="0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Report Suspicious Emails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79500"/>
              <a:ext cx="5346700" cy="3351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400" u="none" strike="noStrike" spc="-30" dirty="0">
                  <a:solidFill>
                    <a:srgbClr val="F5F7F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If you receive a suspicious email, report it to your IT department immediately. Prompt reporting helps protect others and allows for further investigation into potential threats.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6750" y="666750"/>
            <a:ext cx="9763125" cy="3105150"/>
            <a:chOff x="0" y="0"/>
            <a:chExt cx="13017500" cy="4140200"/>
          </a:xfrm>
        </p:grpSpPr>
        <p:sp>
          <p:nvSpPr>
            <p:cNvPr id="7" name="TextBox 7"/>
            <p:cNvSpPr txBox="1"/>
            <p:nvPr/>
          </p:nvSpPr>
          <p:spPr>
            <a:xfrm>
              <a:off x="0" y="66675"/>
              <a:ext cx="13017500" cy="30405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spc="-24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Real-World Phishing Examples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581400"/>
              <a:ext cx="130175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F5F7F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common phishing tactics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708153" y="7606302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718539-8B37-96FD-896A-A4BAC2055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3800" y="1951692"/>
            <a:ext cx="6424386" cy="76185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0EB05B-14C7-8DEE-0EC7-40A3EB7E8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1104" y="4388644"/>
            <a:ext cx="6490494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2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1A2A4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6545058" cy="8953500"/>
            <a:chOff x="0" y="0"/>
            <a:chExt cx="768828" cy="1051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828" cy="1051741"/>
            </a:xfrm>
            <a:custGeom>
              <a:avLst/>
              <a:gdLst/>
              <a:ahLst/>
              <a:cxnLst/>
              <a:rect l="l" t="t" r="r" b="b"/>
              <a:pathLst>
                <a:path w="768828" h="1051741">
                  <a:moveTo>
                    <a:pt x="23657" y="0"/>
                  </a:moveTo>
                  <a:lnTo>
                    <a:pt x="745171" y="0"/>
                  </a:lnTo>
                  <a:cubicBezTo>
                    <a:pt x="751445" y="0"/>
                    <a:pt x="757463" y="2492"/>
                    <a:pt x="761899" y="6929"/>
                  </a:cubicBezTo>
                  <a:cubicBezTo>
                    <a:pt x="766336" y="11366"/>
                    <a:pt x="768828" y="17383"/>
                    <a:pt x="768828" y="23657"/>
                  </a:cubicBezTo>
                  <a:lnTo>
                    <a:pt x="768828" y="1028083"/>
                  </a:lnTo>
                  <a:cubicBezTo>
                    <a:pt x="768828" y="1034358"/>
                    <a:pt x="766336" y="1040375"/>
                    <a:pt x="761899" y="1044812"/>
                  </a:cubicBezTo>
                  <a:cubicBezTo>
                    <a:pt x="757463" y="1049248"/>
                    <a:pt x="751445" y="1051741"/>
                    <a:pt x="745171" y="1051741"/>
                  </a:cubicBezTo>
                  <a:lnTo>
                    <a:pt x="23657" y="1051741"/>
                  </a:lnTo>
                  <a:cubicBezTo>
                    <a:pt x="17383" y="1051741"/>
                    <a:pt x="11366" y="1049248"/>
                    <a:pt x="6929" y="1044812"/>
                  </a:cubicBezTo>
                  <a:cubicBezTo>
                    <a:pt x="2492" y="1040375"/>
                    <a:pt x="0" y="1034358"/>
                    <a:pt x="0" y="1028083"/>
                  </a:cubicBezTo>
                  <a:lnTo>
                    <a:pt x="0" y="23657"/>
                  </a:lnTo>
                  <a:cubicBezTo>
                    <a:pt x="0" y="17383"/>
                    <a:pt x="2492" y="11366"/>
                    <a:pt x="6929" y="6929"/>
                  </a:cubicBezTo>
                  <a:cubicBezTo>
                    <a:pt x="11366" y="2492"/>
                    <a:pt x="17383" y="0"/>
                    <a:pt x="23657" y="0"/>
                  </a:cubicBezTo>
                  <a:close/>
                </a:path>
              </a:pathLst>
            </a:custGeom>
            <a:blipFill>
              <a:blip r:embed="rId2"/>
              <a:stretch>
                <a:fillRect t="-414" b="-41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991600" y="1076325"/>
            <a:ext cx="8629650" cy="470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99"/>
              </a:lnSpc>
              <a:spcBef>
                <a:spcPct val="0"/>
              </a:spcBef>
            </a:pPr>
            <a:r>
              <a:rPr lang="en-US" sz="3200" spc="-104" dirty="0">
                <a:solidFill>
                  <a:srgbClr val="F5F7F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Is phishing Illegal?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991600" y="2457450"/>
            <a:ext cx="8629650" cy="1538600"/>
            <a:chOff x="0" y="0"/>
            <a:chExt cx="2272830" cy="4052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72830" cy="405228"/>
            </a:xfrm>
            <a:custGeom>
              <a:avLst/>
              <a:gdLst/>
              <a:ahLst/>
              <a:cxnLst/>
              <a:rect l="l" t="t" r="r" b="b"/>
              <a:pathLst>
                <a:path w="2272830" h="405228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272830" cy="443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991600" y="4318206"/>
            <a:ext cx="8629650" cy="1538600"/>
            <a:chOff x="0" y="0"/>
            <a:chExt cx="2272830" cy="4052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72830" cy="405228"/>
            </a:xfrm>
            <a:custGeom>
              <a:avLst/>
              <a:gdLst/>
              <a:ahLst/>
              <a:cxnLst/>
              <a:rect l="l" t="t" r="r" b="b"/>
              <a:pathLst>
                <a:path w="2272830" h="405228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72830" cy="443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991600" y="6210411"/>
            <a:ext cx="8629650" cy="1538600"/>
            <a:chOff x="0" y="0"/>
            <a:chExt cx="2272830" cy="40522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72830" cy="405228"/>
            </a:xfrm>
            <a:custGeom>
              <a:avLst/>
              <a:gdLst/>
              <a:ahLst/>
              <a:cxnLst/>
              <a:rect l="l" t="t" r="r" b="b"/>
              <a:pathLst>
                <a:path w="2272830" h="405228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72830" cy="443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91600" y="8072861"/>
            <a:ext cx="8629650" cy="1538600"/>
            <a:chOff x="0" y="0"/>
            <a:chExt cx="2272830" cy="40522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72830" cy="405228"/>
            </a:xfrm>
            <a:custGeom>
              <a:avLst/>
              <a:gdLst/>
              <a:ahLst/>
              <a:cxnLst/>
              <a:rect l="l" t="t" r="r" b="b"/>
              <a:pathLst>
                <a:path w="2272830" h="405228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272830" cy="443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650688" y="3001325"/>
            <a:ext cx="7311473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1A2A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50688" y="4862081"/>
            <a:ext cx="7311473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1A2A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50688" y="6754286"/>
            <a:ext cx="7311473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1A2A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Maybe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50688" y="8616736"/>
            <a:ext cx="7311473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1A2A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Unknown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75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F2641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2457450"/>
            <a:ext cx="8629650" cy="1538600"/>
            <a:chOff x="0" y="0"/>
            <a:chExt cx="2272830" cy="4052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2830" cy="405228"/>
            </a:xfrm>
            <a:custGeom>
              <a:avLst/>
              <a:gdLst/>
              <a:ahLst/>
              <a:cxnLst/>
              <a:rect l="l" t="t" r="r" b="b"/>
              <a:pathLst>
                <a:path w="2272830" h="405228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72830" cy="443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6750" y="4318206"/>
            <a:ext cx="8629650" cy="1538600"/>
            <a:chOff x="0" y="0"/>
            <a:chExt cx="2272830" cy="4052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72830" cy="405228"/>
            </a:xfrm>
            <a:custGeom>
              <a:avLst/>
              <a:gdLst/>
              <a:ahLst/>
              <a:cxnLst/>
              <a:rect l="l" t="t" r="r" b="b"/>
              <a:pathLst>
                <a:path w="2272830" h="405228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272830" cy="443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" y="6210411"/>
            <a:ext cx="8629650" cy="1538600"/>
            <a:chOff x="0" y="0"/>
            <a:chExt cx="2272830" cy="4052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72830" cy="405228"/>
            </a:xfrm>
            <a:custGeom>
              <a:avLst/>
              <a:gdLst/>
              <a:ahLst/>
              <a:cxnLst/>
              <a:rect l="l" t="t" r="r" b="b"/>
              <a:pathLst>
                <a:path w="2272830" h="405228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72830" cy="443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6750" y="8072861"/>
            <a:ext cx="8629650" cy="1538600"/>
            <a:chOff x="0" y="0"/>
            <a:chExt cx="2272830" cy="40522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72830" cy="405228"/>
            </a:xfrm>
            <a:custGeom>
              <a:avLst/>
              <a:gdLst/>
              <a:ahLst/>
              <a:cxnLst/>
              <a:rect l="l" t="t" r="r" b="b"/>
              <a:pathLst>
                <a:path w="2272830" h="405228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72830" cy="443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66750" y="1076325"/>
            <a:ext cx="8629650" cy="464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99"/>
              </a:lnSpc>
              <a:spcBef>
                <a:spcPct val="0"/>
              </a:spcBef>
            </a:pPr>
            <a:r>
              <a:rPr lang="en-US" sz="2999" spc="-104" dirty="0">
                <a:solidFill>
                  <a:srgbClr val="F5F7F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Is this email legitimate or a scam?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1550" y="3001325"/>
            <a:ext cx="8020050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1A2A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Yes, it's legitimate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1550" y="4862081"/>
            <a:ext cx="8020050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spc="-37">
                <a:solidFill>
                  <a:srgbClr val="1A2A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No, it's a scam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1550" y="6754286"/>
            <a:ext cx="8020050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1A2A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Unsure, ask IT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1550" y="8616736"/>
            <a:ext cx="8020050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1A2A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Need to investigate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D4A8405-0445-D3E5-38D4-3B413921C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75" y="1264806"/>
            <a:ext cx="7858125" cy="802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2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1A2A4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6545058" cy="8953500"/>
            <a:chOff x="0" y="0"/>
            <a:chExt cx="768828" cy="1051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828" cy="1051741"/>
            </a:xfrm>
            <a:custGeom>
              <a:avLst/>
              <a:gdLst/>
              <a:ahLst/>
              <a:cxnLst/>
              <a:rect l="l" t="t" r="r" b="b"/>
              <a:pathLst>
                <a:path w="768828" h="1051741">
                  <a:moveTo>
                    <a:pt x="23657" y="0"/>
                  </a:moveTo>
                  <a:lnTo>
                    <a:pt x="745171" y="0"/>
                  </a:lnTo>
                  <a:cubicBezTo>
                    <a:pt x="751445" y="0"/>
                    <a:pt x="757463" y="2492"/>
                    <a:pt x="761899" y="6929"/>
                  </a:cubicBezTo>
                  <a:cubicBezTo>
                    <a:pt x="766336" y="11366"/>
                    <a:pt x="768828" y="17383"/>
                    <a:pt x="768828" y="23657"/>
                  </a:cubicBezTo>
                  <a:lnTo>
                    <a:pt x="768828" y="1028083"/>
                  </a:lnTo>
                  <a:cubicBezTo>
                    <a:pt x="768828" y="1034358"/>
                    <a:pt x="766336" y="1040375"/>
                    <a:pt x="761899" y="1044812"/>
                  </a:cubicBezTo>
                  <a:cubicBezTo>
                    <a:pt x="757463" y="1049248"/>
                    <a:pt x="751445" y="1051741"/>
                    <a:pt x="745171" y="1051741"/>
                  </a:cubicBezTo>
                  <a:lnTo>
                    <a:pt x="23657" y="1051741"/>
                  </a:lnTo>
                  <a:cubicBezTo>
                    <a:pt x="17383" y="1051741"/>
                    <a:pt x="11366" y="1049248"/>
                    <a:pt x="6929" y="1044812"/>
                  </a:cubicBezTo>
                  <a:cubicBezTo>
                    <a:pt x="2492" y="1040375"/>
                    <a:pt x="0" y="1034358"/>
                    <a:pt x="0" y="1028083"/>
                  </a:cubicBezTo>
                  <a:lnTo>
                    <a:pt x="0" y="23657"/>
                  </a:lnTo>
                  <a:cubicBezTo>
                    <a:pt x="0" y="17383"/>
                    <a:pt x="2492" y="11366"/>
                    <a:pt x="6929" y="6929"/>
                  </a:cubicBezTo>
                  <a:cubicBezTo>
                    <a:pt x="11366" y="2492"/>
                    <a:pt x="17383" y="0"/>
                    <a:pt x="23657" y="0"/>
                  </a:cubicBezTo>
                  <a:close/>
                </a:path>
              </a:pathLst>
            </a:custGeom>
            <a:blipFill>
              <a:blip r:embed="rId2"/>
              <a:stretch>
                <a:fillRect t="-414" b="-41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991600" y="1076325"/>
            <a:ext cx="8629650" cy="470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99"/>
              </a:lnSpc>
              <a:spcBef>
                <a:spcPct val="0"/>
              </a:spcBef>
            </a:pPr>
            <a:r>
              <a:rPr lang="en-US" sz="3200" spc="-104" dirty="0">
                <a:solidFill>
                  <a:srgbClr val="F5F7F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What is the phishing red flag here?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991600" y="2457450"/>
            <a:ext cx="8629650" cy="1538600"/>
            <a:chOff x="0" y="0"/>
            <a:chExt cx="2272830" cy="4052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72830" cy="405228"/>
            </a:xfrm>
            <a:custGeom>
              <a:avLst/>
              <a:gdLst/>
              <a:ahLst/>
              <a:cxnLst/>
              <a:rect l="l" t="t" r="r" b="b"/>
              <a:pathLst>
                <a:path w="2272830" h="405228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272830" cy="443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991600" y="4318206"/>
            <a:ext cx="8629650" cy="1538600"/>
            <a:chOff x="0" y="0"/>
            <a:chExt cx="2272830" cy="4052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72830" cy="405228"/>
            </a:xfrm>
            <a:custGeom>
              <a:avLst/>
              <a:gdLst/>
              <a:ahLst/>
              <a:cxnLst/>
              <a:rect l="l" t="t" r="r" b="b"/>
              <a:pathLst>
                <a:path w="2272830" h="405228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72830" cy="443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991600" y="6210411"/>
            <a:ext cx="8629650" cy="1538600"/>
            <a:chOff x="0" y="0"/>
            <a:chExt cx="2272830" cy="40522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72830" cy="405228"/>
            </a:xfrm>
            <a:custGeom>
              <a:avLst/>
              <a:gdLst/>
              <a:ahLst/>
              <a:cxnLst/>
              <a:rect l="l" t="t" r="r" b="b"/>
              <a:pathLst>
                <a:path w="2272830" h="405228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72830" cy="443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91600" y="8072861"/>
            <a:ext cx="8629650" cy="1538600"/>
            <a:chOff x="0" y="0"/>
            <a:chExt cx="2272830" cy="40522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72830" cy="405228"/>
            </a:xfrm>
            <a:custGeom>
              <a:avLst/>
              <a:gdLst/>
              <a:ahLst/>
              <a:cxnLst/>
              <a:rect l="l" t="t" r="r" b="b"/>
              <a:pathLst>
                <a:path w="2272830" h="405228">
                  <a:moveTo>
                    <a:pt x="35885" y="0"/>
                  </a:moveTo>
                  <a:lnTo>
                    <a:pt x="2236944" y="0"/>
                  </a:lnTo>
                  <a:cubicBezTo>
                    <a:pt x="2246462" y="0"/>
                    <a:pt x="2255589" y="3781"/>
                    <a:pt x="2262319" y="10511"/>
                  </a:cubicBezTo>
                  <a:cubicBezTo>
                    <a:pt x="2269049" y="17240"/>
                    <a:pt x="2272830" y="26368"/>
                    <a:pt x="2272830" y="35885"/>
                  </a:cubicBezTo>
                  <a:lnTo>
                    <a:pt x="2272830" y="369343"/>
                  </a:lnTo>
                  <a:cubicBezTo>
                    <a:pt x="2272830" y="378860"/>
                    <a:pt x="2269049" y="387988"/>
                    <a:pt x="2262319" y="394717"/>
                  </a:cubicBezTo>
                  <a:cubicBezTo>
                    <a:pt x="2255589" y="401447"/>
                    <a:pt x="2246462" y="405228"/>
                    <a:pt x="2236944" y="405228"/>
                  </a:cubicBezTo>
                  <a:lnTo>
                    <a:pt x="35885" y="405228"/>
                  </a:lnTo>
                  <a:cubicBezTo>
                    <a:pt x="26368" y="405228"/>
                    <a:pt x="17240" y="401447"/>
                    <a:pt x="10511" y="394717"/>
                  </a:cubicBezTo>
                  <a:cubicBezTo>
                    <a:pt x="3781" y="387988"/>
                    <a:pt x="0" y="378860"/>
                    <a:pt x="0" y="369343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272830" cy="443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650688" y="3001325"/>
            <a:ext cx="7311473" cy="41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 dirty="0">
                <a:solidFill>
                  <a:srgbClr val="1A2A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Friendly tone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50688" y="4862081"/>
            <a:ext cx="7311473" cy="41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 dirty="0">
                <a:solidFill>
                  <a:srgbClr val="1A2A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Proper Grammar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50688" y="6754286"/>
            <a:ext cx="7311473" cy="41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 dirty="0">
                <a:solidFill>
                  <a:srgbClr val="1A2A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Urgency and fake link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50688" y="8616736"/>
            <a:ext cx="7311473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 dirty="0">
                <a:solidFill>
                  <a:srgbClr val="1A2A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Unknown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D086F97-E25A-36F3-E325-6F4D6C379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1" y="1944950"/>
            <a:ext cx="7780095" cy="665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94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2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1A2A4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52512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923859" y="5600700"/>
            <a:ext cx="8629634" cy="1188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940"/>
              </a:lnSpc>
            </a:pPr>
            <a:r>
              <a:rPr lang="en-US" sz="3200" spc="-57" dirty="0">
                <a:solidFill>
                  <a:srgbClr val="F5F7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Stay vigilant, stay safe, and protect yourself online.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79930" y="3950433"/>
            <a:ext cx="8317491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825"/>
              </a:lnSpc>
            </a:pPr>
            <a:r>
              <a:rPr lang="en-US" sz="12825" spc="-448" dirty="0">
                <a:solidFill>
                  <a:schemeClr val="accent6">
                    <a:lumMod val="60000"/>
                    <a:lumOff val="40000"/>
                  </a:schemeClr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5418783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436</Words>
  <Application>Microsoft Office PowerPoint</Application>
  <PresentationFormat>Custom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Georgia Pro Condensed</vt:lpstr>
      <vt:lpstr>Helvetica World</vt:lpstr>
      <vt:lpstr>Helvetica World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Phishing Awareness Training</dc:title>
  <dc:creator>Nard</dc:creator>
  <dc:description>Presentation - Phishing Awareness Training</dc:description>
  <cp:lastModifiedBy>Bernard Agyemang</cp:lastModifiedBy>
  <cp:revision>4</cp:revision>
  <dcterms:created xsi:type="dcterms:W3CDTF">2006-08-16T00:00:00Z</dcterms:created>
  <dcterms:modified xsi:type="dcterms:W3CDTF">2026-01-31T18:44:27Z</dcterms:modified>
  <dc:identifier>DAG_6GbEU6c</dc:identifier>
</cp:coreProperties>
</file>